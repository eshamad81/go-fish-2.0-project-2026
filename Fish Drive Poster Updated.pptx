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1945600" cx="32918400"/>
  <p:notesSz cx="6858000" cy="9144000"/>
  <p:embeddedFontLst>
    <p:embeddedFont>
      <p:font typeface="Catamaran"/>
      <p:regular r:id="rId7"/>
      <p:bold r:id="rId8"/>
    </p:embeddedFont>
    <p:embeddedFont>
      <p:font typeface="Nunito"/>
      <p:regular r:id="rId9"/>
      <p:bold r:id="rId10"/>
      <p:italic r:id="rId11"/>
      <p:boldItalic r:id="rId12"/>
    </p:embeddedFont>
    <p:embeddedFont>
      <p:font typeface="Urbanist"/>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747775"/>
          </p15:clr>
        </p15:guide>
        <p15:guide id="2" pos="103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1036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Nunito-italic.fntdata"/><Relationship Id="rId10" Type="http://schemas.openxmlformats.org/officeDocument/2006/relationships/font" Target="fonts/Nunito-bold.fntdata"/><Relationship Id="rId13" Type="http://schemas.openxmlformats.org/officeDocument/2006/relationships/font" Target="fonts/Urbanist-regular.fntdata"/><Relationship Id="rId12"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Nunito-regular.fntdata"/><Relationship Id="rId15" Type="http://schemas.openxmlformats.org/officeDocument/2006/relationships/font" Target="fonts/Urbanist-italic.fntdata"/><Relationship Id="rId14" Type="http://schemas.openxmlformats.org/officeDocument/2006/relationships/font" Target="fonts/Urbanist-bold.fntdata"/><Relationship Id="rId16" Type="http://schemas.openxmlformats.org/officeDocument/2006/relationships/font" Target="fonts/Urbanis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Catamaran-regular.fntdata"/><Relationship Id="rId8" Type="http://schemas.openxmlformats.org/officeDocument/2006/relationships/font" Target="fonts/Catamara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624"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857624"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22150" y="3176853"/>
            <a:ext cx="30674400" cy="8757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122120" y="12092267"/>
            <a:ext cx="30674400" cy="3381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122120" y="9176960"/>
            <a:ext cx="30674400" cy="3591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122120" y="1898773"/>
            <a:ext cx="30674400" cy="244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122120" y="4917227"/>
            <a:ext cx="30674400" cy="14576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122120" y="1898773"/>
            <a:ext cx="30674400" cy="244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122120" y="4917227"/>
            <a:ext cx="14399700" cy="14576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17396640" y="4917227"/>
            <a:ext cx="14399700" cy="14576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122120" y="1898773"/>
            <a:ext cx="30674400" cy="244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122120" y="2370560"/>
            <a:ext cx="10108800" cy="3224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122120" y="5928960"/>
            <a:ext cx="10108800" cy="13565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764900" y="1920640"/>
            <a:ext cx="22923900" cy="174540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955800" y="5261547"/>
            <a:ext cx="14562900" cy="6324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955800" y="11959787"/>
            <a:ext cx="14562900" cy="52698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17782200" y="3089387"/>
            <a:ext cx="13813200" cy="15765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122120" y="18050453"/>
            <a:ext cx="21595500" cy="2581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122120" y="4719467"/>
            <a:ext cx="30674400" cy="837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122120" y="13449493"/>
            <a:ext cx="30674400" cy="55500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0500848" y="19896392"/>
            <a:ext cx="1975500" cy="1679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22120" y="1898773"/>
            <a:ext cx="30674400" cy="244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122120" y="4917227"/>
            <a:ext cx="30674400" cy="14576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30500848" y="19896392"/>
            <a:ext cx="1975500" cy="16794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posterpt4.png"/>
          <p:cNvPicPr preferRelativeResize="0"/>
          <p:nvPr/>
        </p:nvPicPr>
        <p:blipFill rotWithShape="1">
          <a:blip r:embed="rId3">
            <a:alphaModFix/>
          </a:blip>
          <a:srcRect b="825" l="662" r="465" t="962"/>
          <a:stretch/>
        </p:blipFill>
        <p:spPr>
          <a:xfrm>
            <a:off x="76200" y="0"/>
            <a:ext cx="32918400" cy="21945600"/>
          </a:xfrm>
          <a:prstGeom prst="rect">
            <a:avLst/>
          </a:prstGeom>
          <a:noFill/>
          <a:ln>
            <a:noFill/>
          </a:ln>
        </p:spPr>
      </p:pic>
      <p:sp>
        <p:nvSpPr>
          <p:cNvPr id="55" name="Google Shape;55;p13"/>
          <p:cNvSpPr txBox="1"/>
          <p:nvPr/>
        </p:nvSpPr>
        <p:spPr>
          <a:xfrm>
            <a:off x="7200900" y="0"/>
            <a:ext cx="216789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600">
                <a:solidFill>
                  <a:schemeClr val="dk1"/>
                </a:solidFill>
                <a:latin typeface="Urbanist"/>
                <a:ea typeface="Urbanist"/>
                <a:cs typeface="Urbanist"/>
                <a:sym typeface="Urbanist"/>
              </a:rPr>
              <a:t>GO FISH 2.0 – AUTONOMOUS FISH-FOLLOWING ROBOT</a:t>
            </a:r>
            <a:endParaRPr b="1" sz="6600">
              <a:solidFill>
                <a:schemeClr val="dk1"/>
              </a:solidFill>
              <a:latin typeface="Urbanist"/>
              <a:ea typeface="Urbanist"/>
              <a:cs typeface="Urbanist"/>
              <a:sym typeface="Urbanist"/>
            </a:endParaRPr>
          </a:p>
        </p:txBody>
      </p:sp>
      <p:sp>
        <p:nvSpPr>
          <p:cNvPr id="56" name="Google Shape;56;p13"/>
          <p:cNvSpPr txBox="1"/>
          <p:nvPr/>
        </p:nvSpPr>
        <p:spPr>
          <a:xfrm>
            <a:off x="9848850" y="990600"/>
            <a:ext cx="16383000" cy="1243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200">
                <a:solidFill>
                  <a:schemeClr val="dk1"/>
                </a:solidFill>
                <a:latin typeface="Catamaran"/>
                <a:ea typeface="Catamaran"/>
                <a:cs typeface="Catamaran"/>
                <a:sym typeface="Catamaran"/>
              </a:rPr>
              <a:t>An autonomous robotics system that navigates a maze using LiDAR sensing and HSV color tracking to follow a fish target in real time.</a:t>
            </a:r>
            <a:endParaRPr b="1" sz="3200">
              <a:solidFill>
                <a:schemeClr val="dk1"/>
              </a:solidFill>
              <a:latin typeface="Catamaran"/>
              <a:ea typeface="Catamaran"/>
              <a:cs typeface="Catamaran"/>
              <a:sym typeface="Catamaran"/>
            </a:endParaRPr>
          </a:p>
        </p:txBody>
      </p:sp>
      <p:sp>
        <p:nvSpPr>
          <p:cNvPr id="57" name="Google Shape;57;p13"/>
          <p:cNvSpPr txBox="1"/>
          <p:nvPr/>
        </p:nvSpPr>
        <p:spPr>
          <a:xfrm>
            <a:off x="138900" y="3220975"/>
            <a:ext cx="7062000" cy="6294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2550">
                <a:solidFill>
                  <a:schemeClr val="dk1"/>
                </a:solidFill>
                <a:latin typeface="Nunito"/>
                <a:ea typeface="Nunito"/>
                <a:cs typeface="Nunito"/>
                <a:sym typeface="Nunito"/>
              </a:rPr>
              <a:t>Go Fish 2.0 is an autonomous robotics system that navigates a maze and follows a fish using LiDAR sensing and HSV color tracking. The Raspberry Pi processes LiDAR data to understand the robot’s surroundings and make movement decisions. An overhead camera tracks the fish using HSV color detection so the robot can follow it through the maze. </a:t>
            </a:r>
            <a:endParaRPr b="1" sz="2550">
              <a:solidFill>
                <a:schemeClr val="dk1"/>
              </a:solidFill>
              <a:latin typeface="Nunito"/>
              <a:ea typeface="Nunito"/>
              <a:cs typeface="Nunito"/>
              <a:sym typeface="Nunito"/>
            </a:endParaRPr>
          </a:p>
          <a:p>
            <a:pPr indent="0" lvl="0" marL="0" rtl="0" algn="just">
              <a:lnSpc>
                <a:spcPct val="115000"/>
              </a:lnSpc>
              <a:spcBef>
                <a:spcPts val="1200"/>
              </a:spcBef>
              <a:spcAft>
                <a:spcPts val="0"/>
              </a:spcAft>
              <a:buClr>
                <a:schemeClr val="dk1"/>
              </a:buClr>
              <a:buSzPts val="1100"/>
              <a:buFont typeface="Arial"/>
              <a:buNone/>
            </a:pPr>
            <a:r>
              <a:rPr b="1" lang="en" sz="2550">
                <a:solidFill>
                  <a:schemeClr val="dk1"/>
                </a:solidFill>
                <a:latin typeface="Nunito"/>
                <a:ea typeface="Nunito"/>
                <a:cs typeface="Nunito"/>
                <a:sym typeface="Nunito"/>
              </a:rPr>
              <a:t>Goal: To build a robot that can autonomously navigate a maze and reliably follow a moving fish target in real time.</a:t>
            </a:r>
            <a:endParaRPr b="1" sz="2550">
              <a:solidFill>
                <a:schemeClr val="dk1"/>
              </a:solidFill>
              <a:latin typeface="Nunito"/>
              <a:ea typeface="Nunito"/>
              <a:cs typeface="Nunito"/>
              <a:sym typeface="Nunito"/>
            </a:endParaRPr>
          </a:p>
          <a:p>
            <a:pPr indent="0" lvl="0" marL="0" rtl="0" algn="just">
              <a:lnSpc>
                <a:spcPct val="115000"/>
              </a:lnSpc>
              <a:spcBef>
                <a:spcPts val="1200"/>
              </a:spcBef>
              <a:spcAft>
                <a:spcPts val="1200"/>
              </a:spcAft>
              <a:buNone/>
            </a:pPr>
            <a:r>
              <a:t/>
            </a:r>
            <a:endParaRPr b="1" sz="2500">
              <a:solidFill>
                <a:schemeClr val="dk1"/>
              </a:solidFill>
              <a:latin typeface="Catamaran"/>
              <a:ea typeface="Catamaran"/>
              <a:cs typeface="Catamaran"/>
              <a:sym typeface="Catamaran"/>
            </a:endParaRPr>
          </a:p>
        </p:txBody>
      </p:sp>
      <p:sp>
        <p:nvSpPr>
          <p:cNvPr id="58" name="Google Shape;58;p13"/>
          <p:cNvSpPr txBox="1"/>
          <p:nvPr/>
        </p:nvSpPr>
        <p:spPr>
          <a:xfrm>
            <a:off x="0" y="9680525"/>
            <a:ext cx="7200900" cy="3795600"/>
          </a:xfrm>
          <a:prstGeom prst="rect">
            <a:avLst/>
          </a:prstGeom>
          <a:noFill/>
          <a:ln>
            <a:noFill/>
          </a:ln>
        </p:spPr>
        <p:txBody>
          <a:bodyPr anchorCtr="0" anchor="t" bIns="91425" lIns="91425" spcFirstLastPara="1" rIns="91425" wrap="square" tIns="91425">
            <a:spAutoFit/>
          </a:bodyPr>
          <a:lstStyle/>
          <a:p>
            <a:pPr indent="-374650" lvl="0" marL="457200" rtl="0" algn="just">
              <a:lnSpc>
                <a:spcPct val="115000"/>
              </a:lnSpc>
              <a:spcBef>
                <a:spcPts val="120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Combines LiDAR sensing for obstacle detection with HSV color tracking for target following.</a:t>
            </a:r>
            <a:endParaRPr b="1" sz="2300">
              <a:solidFill>
                <a:schemeClr val="dk1"/>
              </a:solidFill>
              <a:latin typeface="Nunito"/>
              <a:ea typeface="Nunito"/>
              <a:cs typeface="Nunito"/>
              <a:sym typeface="Nunito"/>
            </a:endParaRPr>
          </a:p>
          <a:p>
            <a:pPr indent="-374650" lvl="0" marL="457200" rtl="0" algn="just">
              <a:lnSpc>
                <a:spcPct val="115000"/>
              </a:lnSpc>
              <a:spcBef>
                <a:spcPts val="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Modular design separating high-level computation (Raspberry Pi) from low-level motor control (VEX V5).</a:t>
            </a:r>
            <a:endParaRPr b="1" sz="2300">
              <a:solidFill>
                <a:schemeClr val="dk1"/>
              </a:solidFill>
              <a:latin typeface="Nunito"/>
              <a:ea typeface="Nunito"/>
              <a:cs typeface="Nunito"/>
              <a:sym typeface="Nunito"/>
            </a:endParaRPr>
          </a:p>
          <a:p>
            <a:pPr indent="-374650" lvl="0" marL="457200" rtl="0" algn="just">
              <a:lnSpc>
                <a:spcPct val="115000"/>
              </a:lnSpc>
              <a:spcBef>
                <a:spcPts val="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Cost-effective and scalable using accessible hardware and open-source software.</a:t>
            </a:r>
            <a:endParaRPr b="1" sz="2300">
              <a:solidFill>
                <a:schemeClr val="dk1"/>
              </a:solidFill>
              <a:latin typeface="Nunito"/>
              <a:ea typeface="Nunito"/>
              <a:cs typeface="Nunito"/>
              <a:sym typeface="Nunito"/>
            </a:endParaRPr>
          </a:p>
          <a:p>
            <a:pPr indent="-374650" lvl="0" marL="457200" rtl="0" algn="just">
              <a:lnSpc>
                <a:spcPct val="115000"/>
              </a:lnSpc>
              <a:spcBef>
                <a:spcPts val="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Capable of navigating complex environments while tracking a dynamic target.</a:t>
            </a:r>
            <a:endParaRPr b="1" sz="2300">
              <a:solidFill>
                <a:schemeClr val="dk1"/>
              </a:solidFill>
              <a:latin typeface="Nunito"/>
              <a:ea typeface="Nunito"/>
              <a:cs typeface="Nunito"/>
              <a:sym typeface="Nunito"/>
            </a:endParaRPr>
          </a:p>
        </p:txBody>
      </p:sp>
      <p:sp>
        <p:nvSpPr>
          <p:cNvPr id="59" name="Google Shape;59;p13"/>
          <p:cNvSpPr txBox="1"/>
          <p:nvPr/>
        </p:nvSpPr>
        <p:spPr>
          <a:xfrm>
            <a:off x="7728625" y="3847725"/>
            <a:ext cx="3538800" cy="44562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Font typeface="Nunito"/>
              <a:buChar char="-"/>
            </a:pPr>
            <a:r>
              <a:rPr b="1" lang="en" sz="1900">
                <a:solidFill>
                  <a:schemeClr val="dk1"/>
                </a:solidFill>
                <a:latin typeface="Nunito"/>
                <a:ea typeface="Nunito"/>
                <a:cs typeface="Nunito"/>
                <a:sym typeface="Nunito"/>
              </a:rPr>
              <a:t>LiDAR (RPLiDAR A1) scans 360° to 8m range.</a:t>
            </a:r>
            <a:endParaRPr b="1" sz="1900">
              <a:solidFill>
                <a:schemeClr val="dk1"/>
              </a:solidFill>
              <a:latin typeface="Nunito"/>
              <a:ea typeface="Nunito"/>
              <a:cs typeface="Nunito"/>
              <a:sym typeface="Nunito"/>
            </a:endParaRPr>
          </a:p>
          <a:p>
            <a:pPr indent="-349250" lvl="0" marL="457200" rtl="0" algn="l">
              <a:lnSpc>
                <a:spcPct val="115000"/>
              </a:lnSpc>
              <a:spcBef>
                <a:spcPts val="0"/>
              </a:spcBef>
              <a:spcAft>
                <a:spcPts val="0"/>
              </a:spcAft>
              <a:buClr>
                <a:schemeClr val="dk1"/>
              </a:buClr>
              <a:buSzPts val="1900"/>
              <a:buFont typeface="Nunito"/>
              <a:buChar char="-"/>
            </a:pPr>
            <a:r>
              <a:rPr b="1" lang="en" sz="1900">
                <a:solidFill>
                  <a:schemeClr val="dk1"/>
                </a:solidFill>
                <a:latin typeface="Nunito"/>
                <a:ea typeface="Nunito"/>
                <a:cs typeface="Nunito"/>
                <a:sym typeface="Nunito"/>
              </a:rPr>
              <a:t>Overhead camera captures video of fish inside the tank.</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349250" lvl="0" marL="457200" rtl="0" algn="l">
              <a:lnSpc>
                <a:spcPct val="115000"/>
              </a:lnSpc>
              <a:spcBef>
                <a:spcPts val="1200"/>
              </a:spcBef>
              <a:spcAft>
                <a:spcPts val="0"/>
              </a:spcAft>
              <a:buClr>
                <a:schemeClr val="dk1"/>
              </a:buClr>
              <a:buSzPts val="1900"/>
              <a:buFont typeface="Nunito"/>
              <a:buChar char="-"/>
            </a:pPr>
            <a:r>
              <a:rPr b="1" lang="en" sz="1900">
                <a:solidFill>
                  <a:schemeClr val="dk1"/>
                </a:solidFill>
                <a:latin typeface="Nunito"/>
                <a:ea typeface="Nunito"/>
                <a:cs typeface="Nunito"/>
                <a:sym typeface="Nunito"/>
              </a:rPr>
              <a:t>Raspberry Pi reads LiDAR data and processes camera frames.</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1200"/>
              </a:spcAft>
              <a:buNone/>
            </a:pPr>
            <a:r>
              <a:t/>
            </a:r>
            <a:endParaRPr b="1" sz="1900">
              <a:solidFill>
                <a:schemeClr val="dk1"/>
              </a:solidFill>
              <a:latin typeface="Nunito"/>
              <a:ea typeface="Nunito"/>
              <a:cs typeface="Nunito"/>
              <a:sym typeface="Nunito"/>
            </a:endParaRPr>
          </a:p>
        </p:txBody>
      </p:sp>
      <p:sp>
        <p:nvSpPr>
          <p:cNvPr id="60" name="Google Shape;60;p13"/>
          <p:cNvSpPr txBox="1"/>
          <p:nvPr/>
        </p:nvSpPr>
        <p:spPr>
          <a:xfrm>
            <a:off x="11180538" y="3826425"/>
            <a:ext cx="3839700" cy="41196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b="1" lang="en" sz="1900">
                <a:solidFill>
                  <a:schemeClr val="dk1"/>
                </a:solidFill>
                <a:latin typeface="Nunito"/>
                <a:ea typeface="Nunito"/>
                <a:cs typeface="Nunito"/>
                <a:sym typeface="Nunito"/>
              </a:rPr>
              <a:t>LiDAR data is processed to detect walls and obstacles.</a:t>
            </a:r>
            <a:endParaRPr b="1" sz="1900">
              <a:solidFill>
                <a:schemeClr val="dk1"/>
              </a:solidFill>
              <a:latin typeface="Nunito"/>
              <a:ea typeface="Nunito"/>
              <a:cs typeface="Nunito"/>
              <a:sym typeface="Nunito"/>
            </a:endParaRPr>
          </a:p>
          <a:p>
            <a:pPr indent="-349250" lvl="0" marL="457200" rtl="0" algn="l">
              <a:lnSpc>
                <a:spcPct val="115000"/>
              </a:lnSpc>
              <a:spcBef>
                <a:spcPts val="0"/>
              </a:spcBef>
              <a:spcAft>
                <a:spcPts val="0"/>
              </a:spcAft>
              <a:buClr>
                <a:schemeClr val="dk1"/>
              </a:buClr>
              <a:buSzPts val="1900"/>
              <a:buChar char="-"/>
            </a:pPr>
            <a:r>
              <a:rPr b="1" lang="en" sz="1900">
                <a:solidFill>
                  <a:schemeClr val="dk1"/>
                </a:solidFill>
                <a:latin typeface="Nunito"/>
                <a:ea typeface="Nunito"/>
                <a:cs typeface="Nunito"/>
                <a:sym typeface="Nunito"/>
              </a:rPr>
              <a:t>HSV color tracking to locate the fish inside the tank.</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349250" lvl="0" marL="457200" rtl="0" algn="l">
              <a:lnSpc>
                <a:spcPct val="115000"/>
              </a:lnSpc>
              <a:spcBef>
                <a:spcPts val="1200"/>
              </a:spcBef>
              <a:spcAft>
                <a:spcPts val="0"/>
              </a:spcAft>
              <a:buClr>
                <a:schemeClr val="dk1"/>
              </a:buClr>
              <a:buSzPts val="1900"/>
              <a:buChar char="-"/>
            </a:pPr>
            <a:r>
              <a:rPr b="1" lang="en" sz="1900">
                <a:solidFill>
                  <a:schemeClr val="dk1"/>
                </a:solidFill>
                <a:latin typeface="Nunito"/>
                <a:ea typeface="Nunito"/>
                <a:cs typeface="Nunito"/>
                <a:sym typeface="Nunito"/>
              </a:rPr>
              <a:t>The Pi decides the best movement toward the fish while avoiding obstacles.</a:t>
            </a:r>
            <a:endParaRPr b="1" sz="1900">
              <a:solidFill>
                <a:schemeClr val="dk1"/>
              </a:solidFill>
              <a:latin typeface="Nunito"/>
              <a:ea typeface="Nunito"/>
              <a:cs typeface="Nunito"/>
              <a:sym typeface="Nunito"/>
            </a:endParaRPr>
          </a:p>
        </p:txBody>
      </p:sp>
      <p:sp>
        <p:nvSpPr>
          <p:cNvPr id="61" name="Google Shape;61;p13"/>
          <p:cNvSpPr txBox="1"/>
          <p:nvPr/>
        </p:nvSpPr>
        <p:spPr>
          <a:xfrm>
            <a:off x="15020250" y="3917625"/>
            <a:ext cx="3839700" cy="39372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b="1" lang="en" sz="1900">
                <a:solidFill>
                  <a:schemeClr val="dk1"/>
                </a:solidFill>
                <a:latin typeface="Nunito"/>
                <a:ea typeface="Nunito"/>
                <a:cs typeface="Nunito"/>
                <a:sym typeface="Nunito"/>
              </a:rPr>
              <a:t>Raspberry Pi sends simple commands to the VEX V5 Brain over serial USB.</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349250" lvl="0" marL="457200" rtl="0" algn="l">
              <a:lnSpc>
                <a:spcPct val="115000"/>
              </a:lnSpc>
              <a:spcBef>
                <a:spcPts val="1200"/>
              </a:spcBef>
              <a:spcAft>
                <a:spcPts val="0"/>
              </a:spcAft>
              <a:buClr>
                <a:schemeClr val="dk1"/>
              </a:buClr>
              <a:buSzPts val="1900"/>
              <a:buChar char="-"/>
            </a:pPr>
            <a:r>
              <a:rPr b="1" lang="en" sz="1900">
                <a:solidFill>
                  <a:schemeClr val="dk1"/>
                </a:solidFill>
                <a:latin typeface="Nunito"/>
                <a:ea typeface="Nunito"/>
                <a:cs typeface="Nunito"/>
                <a:sym typeface="Nunito"/>
              </a:rPr>
              <a:t>Commands: FORWARD, LEFT, RIGHT, STOP.</a:t>
            </a:r>
            <a:endParaRPr b="1" sz="1900">
              <a:solidFill>
                <a:schemeClr val="dk1"/>
              </a:solidFill>
              <a:latin typeface="Nunito"/>
              <a:ea typeface="Nunito"/>
              <a:cs typeface="Nunito"/>
              <a:sym typeface="Nunito"/>
            </a:endParaRPr>
          </a:p>
        </p:txBody>
      </p:sp>
      <p:sp>
        <p:nvSpPr>
          <p:cNvPr id="62" name="Google Shape;62;p13"/>
          <p:cNvSpPr txBox="1"/>
          <p:nvPr/>
        </p:nvSpPr>
        <p:spPr>
          <a:xfrm>
            <a:off x="18715800" y="3994575"/>
            <a:ext cx="3001200" cy="37833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b="1" lang="en" sz="1900">
                <a:solidFill>
                  <a:schemeClr val="dk1"/>
                </a:solidFill>
                <a:latin typeface="Nunito"/>
                <a:ea typeface="Nunito"/>
                <a:cs typeface="Nunito"/>
                <a:sym typeface="Nunito"/>
              </a:rPr>
              <a:t>VEX Brain receives commands and drives the motors.</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t/>
            </a:r>
            <a:endParaRPr b="1" sz="1900">
              <a:solidFill>
                <a:schemeClr val="dk1"/>
              </a:solidFill>
              <a:latin typeface="Nunito"/>
              <a:ea typeface="Nunito"/>
              <a:cs typeface="Nunito"/>
              <a:sym typeface="Nunito"/>
            </a:endParaRPr>
          </a:p>
          <a:p>
            <a:pPr indent="-349250" lvl="0" marL="457200" rtl="0" algn="l">
              <a:lnSpc>
                <a:spcPct val="115000"/>
              </a:lnSpc>
              <a:spcBef>
                <a:spcPts val="1200"/>
              </a:spcBef>
              <a:spcAft>
                <a:spcPts val="0"/>
              </a:spcAft>
              <a:buClr>
                <a:schemeClr val="dk1"/>
              </a:buClr>
              <a:buSzPts val="1900"/>
              <a:buChar char="-"/>
            </a:pPr>
            <a:r>
              <a:rPr b="1" lang="en" sz="1900">
                <a:solidFill>
                  <a:schemeClr val="dk1"/>
                </a:solidFill>
                <a:latin typeface="Nunito"/>
                <a:ea typeface="Nunito"/>
                <a:cs typeface="Nunito"/>
                <a:sym typeface="Nunito"/>
              </a:rPr>
              <a:t>Motors move the robot forward, turn, or stop.</a:t>
            </a:r>
            <a:endParaRPr b="1" sz="1900">
              <a:solidFill>
                <a:schemeClr val="dk1"/>
              </a:solidFill>
              <a:latin typeface="Nunito"/>
              <a:ea typeface="Nunito"/>
              <a:cs typeface="Nunito"/>
              <a:sym typeface="Nunito"/>
            </a:endParaRPr>
          </a:p>
        </p:txBody>
      </p:sp>
      <p:sp>
        <p:nvSpPr>
          <p:cNvPr id="63" name="Google Shape;63;p13"/>
          <p:cNvSpPr txBox="1"/>
          <p:nvPr/>
        </p:nvSpPr>
        <p:spPr>
          <a:xfrm>
            <a:off x="8769325" y="3349275"/>
            <a:ext cx="1457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400">
                <a:solidFill>
                  <a:schemeClr val="dk1"/>
                </a:solidFill>
                <a:latin typeface="Nunito"/>
                <a:ea typeface="Nunito"/>
                <a:cs typeface="Nunito"/>
                <a:sym typeface="Nunito"/>
              </a:rPr>
              <a:t>Sensing</a:t>
            </a:r>
            <a:endParaRPr sz="1900"/>
          </a:p>
        </p:txBody>
      </p:sp>
      <p:sp>
        <p:nvSpPr>
          <p:cNvPr id="64" name="Google Shape;64;p13"/>
          <p:cNvSpPr txBox="1"/>
          <p:nvPr/>
        </p:nvSpPr>
        <p:spPr>
          <a:xfrm>
            <a:off x="12201600" y="3349275"/>
            <a:ext cx="17976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400">
                <a:solidFill>
                  <a:schemeClr val="dk1"/>
                </a:solidFill>
                <a:latin typeface="Nunito"/>
                <a:ea typeface="Nunito"/>
                <a:cs typeface="Nunito"/>
                <a:sym typeface="Nunito"/>
              </a:rPr>
              <a:t>Processing</a:t>
            </a:r>
            <a:endParaRPr sz="2400"/>
          </a:p>
        </p:txBody>
      </p:sp>
      <p:sp>
        <p:nvSpPr>
          <p:cNvPr id="65" name="Google Shape;65;p13"/>
          <p:cNvSpPr txBox="1"/>
          <p:nvPr/>
        </p:nvSpPr>
        <p:spPr>
          <a:xfrm>
            <a:off x="15615738" y="3349275"/>
            <a:ext cx="26487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400">
                <a:solidFill>
                  <a:schemeClr val="dk1"/>
                </a:solidFill>
                <a:latin typeface="Nunito"/>
                <a:ea typeface="Nunito"/>
                <a:cs typeface="Nunito"/>
                <a:sym typeface="Nunito"/>
              </a:rPr>
              <a:t>Communication</a:t>
            </a:r>
            <a:endParaRPr sz="2400"/>
          </a:p>
        </p:txBody>
      </p:sp>
      <p:sp>
        <p:nvSpPr>
          <p:cNvPr id="66" name="Google Shape;66;p13"/>
          <p:cNvSpPr txBox="1"/>
          <p:nvPr/>
        </p:nvSpPr>
        <p:spPr>
          <a:xfrm>
            <a:off x="19317600" y="3349275"/>
            <a:ext cx="17976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400">
                <a:solidFill>
                  <a:schemeClr val="dk1"/>
                </a:solidFill>
                <a:latin typeface="Nunito"/>
                <a:ea typeface="Nunito"/>
                <a:cs typeface="Nunito"/>
                <a:sym typeface="Nunito"/>
              </a:rPr>
              <a:t>Actuation</a:t>
            </a:r>
            <a:endParaRPr sz="2400"/>
          </a:p>
        </p:txBody>
      </p:sp>
      <p:sp>
        <p:nvSpPr>
          <p:cNvPr id="67" name="Google Shape;67;p13"/>
          <p:cNvSpPr txBox="1"/>
          <p:nvPr/>
        </p:nvSpPr>
        <p:spPr>
          <a:xfrm>
            <a:off x="8057175" y="7946025"/>
            <a:ext cx="31233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600">
                <a:solidFill>
                  <a:schemeClr val="dk1"/>
                </a:solidFill>
                <a:latin typeface="Nunito"/>
                <a:ea typeface="Nunito"/>
                <a:cs typeface="Nunito"/>
                <a:sym typeface="Nunito"/>
              </a:rPr>
              <a:t>LiDAR &amp; Camera</a:t>
            </a:r>
            <a:endParaRPr sz="2100"/>
          </a:p>
        </p:txBody>
      </p:sp>
      <p:sp>
        <p:nvSpPr>
          <p:cNvPr id="68" name="Google Shape;68;p13"/>
          <p:cNvSpPr txBox="1"/>
          <p:nvPr/>
        </p:nvSpPr>
        <p:spPr>
          <a:xfrm>
            <a:off x="11795150" y="7946025"/>
            <a:ext cx="31233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600">
                <a:solidFill>
                  <a:schemeClr val="dk1"/>
                </a:solidFill>
                <a:latin typeface="Nunito"/>
                <a:ea typeface="Nunito"/>
                <a:cs typeface="Nunito"/>
                <a:sym typeface="Nunito"/>
              </a:rPr>
              <a:t>Raspberry</a:t>
            </a:r>
            <a:r>
              <a:rPr b="1" lang="en" sz="2600">
                <a:solidFill>
                  <a:schemeClr val="dk1"/>
                </a:solidFill>
                <a:latin typeface="Nunito"/>
                <a:ea typeface="Nunito"/>
                <a:cs typeface="Nunito"/>
                <a:sym typeface="Nunito"/>
              </a:rPr>
              <a:t> Pi 3</a:t>
            </a:r>
            <a:endParaRPr sz="2100"/>
          </a:p>
        </p:txBody>
      </p:sp>
      <p:sp>
        <p:nvSpPr>
          <p:cNvPr id="69" name="Google Shape;69;p13"/>
          <p:cNvSpPr txBox="1"/>
          <p:nvPr/>
        </p:nvSpPr>
        <p:spPr>
          <a:xfrm>
            <a:off x="15446175" y="7946025"/>
            <a:ext cx="31233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600">
                <a:solidFill>
                  <a:schemeClr val="dk1"/>
                </a:solidFill>
                <a:latin typeface="Nunito"/>
                <a:ea typeface="Nunito"/>
                <a:cs typeface="Nunito"/>
                <a:sym typeface="Nunito"/>
              </a:rPr>
              <a:t>VEX V5 Brain</a:t>
            </a:r>
            <a:endParaRPr sz="2100"/>
          </a:p>
        </p:txBody>
      </p:sp>
      <p:sp>
        <p:nvSpPr>
          <p:cNvPr id="70" name="Google Shape;70;p13"/>
          <p:cNvSpPr txBox="1"/>
          <p:nvPr/>
        </p:nvSpPr>
        <p:spPr>
          <a:xfrm>
            <a:off x="18859950" y="7946025"/>
            <a:ext cx="31233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600">
                <a:solidFill>
                  <a:schemeClr val="dk1"/>
                </a:solidFill>
                <a:latin typeface="Nunito"/>
                <a:ea typeface="Nunito"/>
                <a:cs typeface="Nunito"/>
                <a:sym typeface="Nunito"/>
              </a:rPr>
              <a:t>VEX V5 Motors</a:t>
            </a:r>
            <a:endParaRPr sz="2100"/>
          </a:p>
        </p:txBody>
      </p:sp>
      <p:sp>
        <p:nvSpPr>
          <p:cNvPr id="71" name="Google Shape;71;p13"/>
          <p:cNvSpPr txBox="1"/>
          <p:nvPr/>
        </p:nvSpPr>
        <p:spPr>
          <a:xfrm>
            <a:off x="7982125" y="10718850"/>
            <a:ext cx="22446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100">
                <a:solidFill>
                  <a:schemeClr val="dk1"/>
                </a:solidFill>
                <a:latin typeface="Nunito"/>
                <a:ea typeface="Nunito"/>
                <a:cs typeface="Nunito"/>
                <a:sym typeface="Nunito"/>
              </a:rPr>
              <a:t>LiDAR Scans</a:t>
            </a:r>
            <a:endParaRPr sz="2100"/>
          </a:p>
        </p:txBody>
      </p:sp>
      <p:sp>
        <p:nvSpPr>
          <p:cNvPr id="72" name="Google Shape;72;p13"/>
          <p:cNvSpPr txBox="1"/>
          <p:nvPr/>
        </p:nvSpPr>
        <p:spPr>
          <a:xfrm>
            <a:off x="9848850" y="10716100"/>
            <a:ext cx="2802300" cy="879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100">
                <a:solidFill>
                  <a:schemeClr val="dk1"/>
                </a:solidFill>
                <a:latin typeface="Nunito"/>
                <a:ea typeface="Nunito"/>
                <a:cs typeface="Nunito"/>
                <a:sym typeface="Nunito"/>
              </a:rPr>
              <a:t>Pi Processes LiDAR and camera data</a:t>
            </a:r>
            <a:endParaRPr sz="2100"/>
          </a:p>
        </p:txBody>
      </p:sp>
      <p:sp>
        <p:nvSpPr>
          <p:cNvPr id="73" name="Google Shape;73;p13"/>
          <p:cNvSpPr txBox="1"/>
          <p:nvPr/>
        </p:nvSpPr>
        <p:spPr>
          <a:xfrm>
            <a:off x="12651150" y="10716100"/>
            <a:ext cx="2244600" cy="879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100">
                <a:solidFill>
                  <a:schemeClr val="dk1"/>
                </a:solidFill>
                <a:latin typeface="Nunito"/>
                <a:ea typeface="Nunito"/>
                <a:cs typeface="Nunito"/>
                <a:sym typeface="Nunito"/>
              </a:rPr>
              <a:t>Pi detects fish using HSV</a:t>
            </a:r>
            <a:endParaRPr sz="2100"/>
          </a:p>
        </p:txBody>
      </p:sp>
      <p:sp>
        <p:nvSpPr>
          <p:cNvPr id="74" name="Google Shape;74;p13"/>
          <p:cNvSpPr txBox="1"/>
          <p:nvPr/>
        </p:nvSpPr>
        <p:spPr>
          <a:xfrm>
            <a:off x="14895750" y="10716100"/>
            <a:ext cx="2244600" cy="879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100">
                <a:solidFill>
                  <a:schemeClr val="dk1"/>
                </a:solidFill>
                <a:latin typeface="Nunito"/>
                <a:ea typeface="Nunito"/>
                <a:cs typeface="Nunito"/>
                <a:sym typeface="Nunito"/>
              </a:rPr>
              <a:t>Pi decides movement</a:t>
            </a:r>
            <a:endParaRPr sz="2100"/>
          </a:p>
        </p:txBody>
      </p:sp>
      <p:sp>
        <p:nvSpPr>
          <p:cNvPr id="75" name="Google Shape;75;p13"/>
          <p:cNvSpPr txBox="1"/>
          <p:nvPr/>
        </p:nvSpPr>
        <p:spPr>
          <a:xfrm>
            <a:off x="17073000" y="10716100"/>
            <a:ext cx="2244600" cy="879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100">
                <a:solidFill>
                  <a:schemeClr val="dk1"/>
                </a:solidFill>
                <a:latin typeface="Nunito"/>
                <a:ea typeface="Nunito"/>
                <a:cs typeface="Nunito"/>
                <a:sym typeface="Nunito"/>
              </a:rPr>
              <a:t>Command Sent to V5 Brain</a:t>
            </a:r>
            <a:endParaRPr sz="2100"/>
          </a:p>
        </p:txBody>
      </p:sp>
      <p:sp>
        <p:nvSpPr>
          <p:cNvPr id="76" name="Google Shape;76;p13"/>
          <p:cNvSpPr/>
          <p:nvPr/>
        </p:nvSpPr>
        <p:spPr>
          <a:xfrm>
            <a:off x="20304500" y="11151225"/>
            <a:ext cx="580800" cy="34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3"/>
          <p:cNvSpPr txBox="1"/>
          <p:nvPr/>
        </p:nvSpPr>
        <p:spPr>
          <a:xfrm>
            <a:off x="19384950" y="10716100"/>
            <a:ext cx="2244600" cy="879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100">
                <a:solidFill>
                  <a:schemeClr val="dk1"/>
                </a:solidFill>
                <a:latin typeface="Nunito"/>
                <a:ea typeface="Nunito"/>
                <a:cs typeface="Nunito"/>
                <a:sym typeface="Nunito"/>
              </a:rPr>
              <a:t>Brain Drives Motors</a:t>
            </a:r>
            <a:endParaRPr sz="2100"/>
          </a:p>
        </p:txBody>
      </p:sp>
      <p:sp>
        <p:nvSpPr>
          <p:cNvPr id="78" name="Google Shape;78;p13"/>
          <p:cNvSpPr txBox="1"/>
          <p:nvPr/>
        </p:nvSpPr>
        <p:spPr>
          <a:xfrm>
            <a:off x="11705100" y="11920713"/>
            <a:ext cx="53679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500">
                <a:solidFill>
                  <a:schemeClr val="dk1"/>
                </a:solidFill>
                <a:latin typeface="Nunito"/>
                <a:ea typeface="Nunito"/>
                <a:cs typeface="Nunito"/>
                <a:sym typeface="Nunito"/>
              </a:rPr>
              <a:t>Repeats Continuously in Real Time</a:t>
            </a:r>
            <a:endParaRPr sz="2500"/>
          </a:p>
        </p:txBody>
      </p:sp>
      <p:sp>
        <p:nvSpPr>
          <p:cNvPr id="79" name="Google Shape;79;p13"/>
          <p:cNvSpPr txBox="1"/>
          <p:nvPr/>
        </p:nvSpPr>
        <p:spPr>
          <a:xfrm>
            <a:off x="916500" y="2602463"/>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136BFF"/>
                </a:solidFill>
                <a:latin typeface="Nunito"/>
                <a:ea typeface="Nunito"/>
                <a:cs typeface="Nunito"/>
                <a:sym typeface="Nunito"/>
              </a:rPr>
              <a:t>Introduction</a:t>
            </a:r>
            <a:endParaRPr sz="3100">
              <a:solidFill>
                <a:srgbClr val="136BFF"/>
              </a:solidFill>
            </a:endParaRPr>
          </a:p>
        </p:txBody>
      </p:sp>
      <p:sp>
        <p:nvSpPr>
          <p:cNvPr id="80" name="Google Shape;80;p13"/>
          <p:cNvSpPr txBox="1"/>
          <p:nvPr/>
        </p:nvSpPr>
        <p:spPr>
          <a:xfrm>
            <a:off x="916500" y="9018713"/>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FF1480"/>
                </a:solidFill>
                <a:latin typeface="Nunito"/>
                <a:ea typeface="Nunito"/>
                <a:cs typeface="Nunito"/>
                <a:sym typeface="Nunito"/>
              </a:rPr>
              <a:t>Novelty</a:t>
            </a:r>
            <a:endParaRPr sz="3100">
              <a:solidFill>
                <a:srgbClr val="FF1480"/>
              </a:solidFill>
            </a:endParaRPr>
          </a:p>
        </p:txBody>
      </p:sp>
      <p:sp>
        <p:nvSpPr>
          <p:cNvPr id="81" name="Google Shape;81;p13"/>
          <p:cNvSpPr txBox="1"/>
          <p:nvPr/>
        </p:nvSpPr>
        <p:spPr>
          <a:xfrm>
            <a:off x="11977350" y="2602463"/>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FF1480"/>
                </a:solidFill>
                <a:latin typeface="Nunito"/>
                <a:ea typeface="Nunito"/>
                <a:cs typeface="Nunito"/>
                <a:sym typeface="Nunito"/>
              </a:rPr>
              <a:t>Methods</a:t>
            </a:r>
            <a:endParaRPr sz="3100">
              <a:solidFill>
                <a:srgbClr val="FF1480"/>
              </a:solidFill>
            </a:endParaRPr>
          </a:p>
        </p:txBody>
      </p:sp>
      <p:sp>
        <p:nvSpPr>
          <p:cNvPr id="82" name="Google Shape;82;p13"/>
          <p:cNvSpPr txBox="1"/>
          <p:nvPr/>
        </p:nvSpPr>
        <p:spPr>
          <a:xfrm>
            <a:off x="6609450" y="12758100"/>
            <a:ext cx="5367900" cy="631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900">
                <a:solidFill>
                  <a:srgbClr val="FF1480"/>
                </a:solidFill>
                <a:latin typeface="Nunito"/>
                <a:ea typeface="Nunito"/>
                <a:cs typeface="Nunito"/>
                <a:sym typeface="Nunito"/>
              </a:rPr>
              <a:t>System Workflow</a:t>
            </a:r>
            <a:endParaRPr sz="2900">
              <a:solidFill>
                <a:srgbClr val="FF1480"/>
              </a:solidFill>
            </a:endParaRPr>
          </a:p>
        </p:txBody>
      </p:sp>
      <p:sp>
        <p:nvSpPr>
          <p:cNvPr id="83" name="Google Shape;83;p13"/>
          <p:cNvSpPr/>
          <p:nvPr/>
        </p:nvSpPr>
        <p:spPr>
          <a:xfrm>
            <a:off x="46500" y="14242650"/>
            <a:ext cx="12155100" cy="7468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 name="Google Shape;84;p13" title="Screenshot 2026-05-15 at 12.37.18 PM.png"/>
          <p:cNvPicPr preferRelativeResize="0"/>
          <p:nvPr/>
        </p:nvPicPr>
        <p:blipFill rotWithShape="1">
          <a:blip r:embed="rId4">
            <a:alphaModFix/>
          </a:blip>
          <a:srcRect b="0" l="0" r="2325" t="0"/>
          <a:stretch/>
        </p:blipFill>
        <p:spPr>
          <a:xfrm>
            <a:off x="5622000" y="14007875"/>
            <a:ext cx="6657775" cy="7596900"/>
          </a:xfrm>
          <a:prstGeom prst="rect">
            <a:avLst/>
          </a:prstGeom>
          <a:noFill/>
          <a:ln>
            <a:noFill/>
          </a:ln>
        </p:spPr>
      </p:pic>
      <p:sp>
        <p:nvSpPr>
          <p:cNvPr id="85" name="Google Shape;85;p13"/>
          <p:cNvSpPr txBox="1"/>
          <p:nvPr/>
        </p:nvSpPr>
        <p:spPr>
          <a:xfrm>
            <a:off x="0" y="14169300"/>
            <a:ext cx="5622000" cy="77763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120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The VEX chassis is the structural base.</a:t>
            </a:r>
            <a:endParaRPr b="1" sz="2400">
              <a:solidFill>
                <a:schemeClr val="dk1"/>
              </a:solidFill>
              <a:latin typeface="Nunito"/>
              <a:ea typeface="Nunito"/>
              <a:cs typeface="Nunito"/>
              <a:sym typeface="Nunito"/>
            </a:endParaRPr>
          </a:p>
          <a:p>
            <a:pPr indent="-381000" lvl="0" marL="457200" rtl="0" algn="l">
              <a:lnSpc>
                <a:spcPct val="115000"/>
              </a:lnSpc>
              <a:spcBef>
                <a:spcPts val="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Motors are mounted underneath the chassis to drive the robot.</a:t>
            </a:r>
            <a:endParaRPr b="1" sz="2400">
              <a:solidFill>
                <a:schemeClr val="dk1"/>
              </a:solidFill>
              <a:latin typeface="Nunito"/>
              <a:ea typeface="Nunito"/>
              <a:cs typeface="Nunito"/>
              <a:sym typeface="Nunito"/>
            </a:endParaRPr>
          </a:p>
          <a:p>
            <a:pPr indent="-381000" lvl="0" marL="457200" rtl="0" algn="l">
              <a:lnSpc>
                <a:spcPct val="115000"/>
              </a:lnSpc>
              <a:spcBef>
                <a:spcPts val="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A water tank sits on top of the upper platform; the fish is inside the tank.</a:t>
            </a:r>
            <a:endParaRPr b="1" sz="2400">
              <a:solidFill>
                <a:schemeClr val="dk1"/>
              </a:solidFill>
              <a:latin typeface="Nunito"/>
              <a:ea typeface="Nunito"/>
              <a:cs typeface="Nunito"/>
              <a:sym typeface="Nunito"/>
            </a:endParaRPr>
          </a:p>
          <a:p>
            <a:pPr indent="-381000" lvl="0" marL="457200" rtl="0" algn="l">
              <a:lnSpc>
                <a:spcPct val="115000"/>
              </a:lnSpc>
              <a:spcBef>
                <a:spcPts val="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The Raspberry Pi is mounted on the upper platform near the tank.</a:t>
            </a:r>
            <a:endParaRPr b="1" sz="2400">
              <a:solidFill>
                <a:schemeClr val="dk1"/>
              </a:solidFill>
              <a:latin typeface="Nunito"/>
              <a:ea typeface="Nunito"/>
              <a:cs typeface="Nunito"/>
              <a:sym typeface="Nunito"/>
            </a:endParaRPr>
          </a:p>
          <a:p>
            <a:pPr indent="-381000" lvl="0" marL="457200" rtl="0" algn="l">
              <a:lnSpc>
                <a:spcPct val="115000"/>
              </a:lnSpc>
              <a:spcBef>
                <a:spcPts val="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The VEX V5 Brain and battery are mounted lower in the chassis for stability.</a:t>
            </a:r>
            <a:endParaRPr b="1" sz="2400">
              <a:solidFill>
                <a:schemeClr val="dk1"/>
              </a:solidFill>
              <a:latin typeface="Nunito"/>
              <a:ea typeface="Nunito"/>
              <a:cs typeface="Nunito"/>
              <a:sym typeface="Nunito"/>
            </a:endParaRPr>
          </a:p>
          <a:p>
            <a:pPr indent="-381000" lvl="0" marL="457200" rtl="0" algn="l">
              <a:lnSpc>
                <a:spcPct val="115000"/>
              </a:lnSpc>
              <a:spcBef>
                <a:spcPts val="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The LiDAR is mounted with a clear 360° view of the environment.</a:t>
            </a:r>
            <a:endParaRPr b="1" sz="2400">
              <a:solidFill>
                <a:schemeClr val="dk1"/>
              </a:solidFill>
              <a:latin typeface="Nunito"/>
              <a:ea typeface="Nunito"/>
              <a:cs typeface="Nunito"/>
              <a:sym typeface="Nunito"/>
            </a:endParaRPr>
          </a:p>
          <a:p>
            <a:pPr indent="-381000" lvl="0" marL="457200" rtl="0" algn="l">
              <a:lnSpc>
                <a:spcPct val="115000"/>
              </a:lnSpc>
              <a:spcBef>
                <a:spcPts val="0"/>
              </a:spcBef>
              <a:spcAft>
                <a:spcPts val="0"/>
              </a:spcAft>
              <a:buClr>
                <a:schemeClr val="dk1"/>
              </a:buClr>
              <a:buSzPts val="2400"/>
              <a:buFont typeface="Nunito"/>
              <a:buChar char="-"/>
            </a:pPr>
            <a:r>
              <a:rPr b="1" lang="en" sz="2400">
                <a:solidFill>
                  <a:schemeClr val="dk1"/>
                </a:solidFill>
                <a:latin typeface="Nunito"/>
                <a:ea typeface="Nunito"/>
                <a:cs typeface="Nunito"/>
                <a:sym typeface="Nunito"/>
              </a:rPr>
              <a:t>The overhead camera is fixed above the tank and captures images/video of the fish inside the tank.</a:t>
            </a:r>
            <a:endParaRPr b="1" sz="2400">
              <a:solidFill>
                <a:schemeClr val="dk1"/>
              </a:solidFill>
              <a:latin typeface="Nunito"/>
              <a:ea typeface="Nunito"/>
              <a:cs typeface="Nunito"/>
              <a:sym typeface="Nunito"/>
            </a:endParaRPr>
          </a:p>
        </p:txBody>
      </p:sp>
      <p:sp>
        <p:nvSpPr>
          <p:cNvPr id="86" name="Google Shape;86;p13"/>
          <p:cNvSpPr txBox="1"/>
          <p:nvPr/>
        </p:nvSpPr>
        <p:spPr>
          <a:xfrm>
            <a:off x="3440100" y="13641675"/>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136BFF"/>
                </a:solidFill>
                <a:latin typeface="Nunito"/>
                <a:ea typeface="Nunito"/>
                <a:cs typeface="Nunito"/>
                <a:sym typeface="Nunito"/>
              </a:rPr>
              <a:t>Full Robot Layout</a:t>
            </a:r>
            <a:endParaRPr b="1" sz="3100">
              <a:solidFill>
                <a:srgbClr val="136BFF"/>
              </a:solidFill>
              <a:latin typeface="Nunito"/>
              <a:ea typeface="Nunito"/>
              <a:cs typeface="Nunito"/>
              <a:sym typeface="Nunito"/>
            </a:endParaRPr>
          </a:p>
        </p:txBody>
      </p:sp>
      <p:sp>
        <p:nvSpPr>
          <p:cNvPr id="87" name="Google Shape;87;p13"/>
          <p:cNvSpPr txBox="1"/>
          <p:nvPr/>
        </p:nvSpPr>
        <p:spPr>
          <a:xfrm>
            <a:off x="24748050" y="2602475"/>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136BFF"/>
                </a:solidFill>
                <a:latin typeface="Nunito"/>
                <a:ea typeface="Nunito"/>
                <a:cs typeface="Nunito"/>
                <a:sym typeface="Nunito"/>
              </a:rPr>
              <a:t>Results</a:t>
            </a:r>
            <a:endParaRPr b="1" sz="3100">
              <a:solidFill>
                <a:srgbClr val="136BFF"/>
              </a:solidFill>
              <a:latin typeface="Nunito"/>
              <a:ea typeface="Nunito"/>
              <a:cs typeface="Nunito"/>
              <a:sym typeface="Nunito"/>
            </a:endParaRPr>
          </a:p>
        </p:txBody>
      </p:sp>
      <p:sp>
        <p:nvSpPr>
          <p:cNvPr id="88" name="Google Shape;88;p13"/>
          <p:cNvSpPr txBox="1"/>
          <p:nvPr/>
        </p:nvSpPr>
        <p:spPr>
          <a:xfrm>
            <a:off x="24988500" y="5555313"/>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FF1480"/>
                </a:solidFill>
                <a:latin typeface="Nunito"/>
                <a:ea typeface="Nunito"/>
                <a:cs typeface="Nunito"/>
                <a:sym typeface="Nunito"/>
              </a:rPr>
              <a:t>GoFish 2.0 In Operation</a:t>
            </a:r>
            <a:endParaRPr sz="3100">
              <a:solidFill>
                <a:srgbClr val="FF1480"/>
              </a:solidFill>
            </a:endParaRPr>
          </a:p>
        </p:txBody>
      </p:sp>
      <p:sp>
        <p:nvSpPr>
          <p:cNvPr id="89" name="Google Shape;89;p13"/>
          <p:cNvSpPr txBox="1"/>
          <p:nvPr/>
        </p:nvSpPr>
        <p:spPr>
          <a:xfrm>
            <a:off x="24748050" y="10310988"/>
            <a:ext cx="5367900" cy="60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700">
                <a:solidFill>
                  <a:srgbClr val="FF1480"/>
                </a:solidFill>
                <a:latin typeface="Nunito"/>
                <a:ea typeface="Nunito"/>
                <a:cs typeface="Nunito"/>
                <a:sym typeface="Nunito"/>
              </a:rPr>
              <a:t>Board Base</a:t>
            </a:r>
            <a:endParaRPr sz="2700">
              <a:solidFill>
                <a:srgbClr val="FF1480"/>
              </a:solidFill>
            </a:endParaRPr>
          </a:p>
        </p:txBody>
      </p:sp>
      <p:sp>
        <p:nvSpPr>
          <p:cNvPr id="90" name="Google Shape;90;p13"/>
          <p:cNvSpPr txBox="1"/>
          <p:nvPr/>
        </p:nvSpPr>
        <p:spPr>
          <a:xfrm>
            <a:off x="24862500" y="13816000"/>
            <a:ext cx="53679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3100">
                <a:solidFill>
                  <a:srgbClr val="136BFF"/>
                </a:solidFill>
                <a:latin typeface="Nunito"/>
                <a:ea typeface="Nunito"/>
                <a:cs typeface="Nunito"/>
                <a:sym typeface="Nunito"/>
              </a:rPr>
              <a:t>Impact and Future Work</a:t>
            </a:r>
            <a:endParaRPr b="1" sz="3100">
              <a:solidFill>
                <a:srgbClr val="136BFF"/>
              </a:solidFill>
              <a:latin typeface="Nunito"/>
              <a:ea typeface="Nunito"/>
              <a:cs typeface="Nunito"/>
              <a:sym typeface="Nunito"/>
            </a:endParaRPr>
          </a:p>
        </p:txBody>
      </p:sp>
      <p:sp>
        <p:nvSpPr>
          <p:cNvPr id="91" name="Google Shape;91;p13"/>
          <p:cNvSpPr txBox="1"/>
          <p:nvPr/>
        </p:nvSpPr>
        <p:spPr>
          <a:xfrm>
            <a:off x="22221175" y="17382500"/>
            <a:ext cx="10544700" cy="4577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t/>
            </a:r>
            <a:endParaRPr b="1" sz="2700">
              <a:solidFill>
                <a:schemeClr val="dk1"/>
              </a:solidFill>
              <a:latin typeface="Nunito"/>
              <a:ea typeface="Nunito"/>
              <a:cs typeface="Nunito"/>
              <a:sym typeface="Nunito"/>
            </a:endParaRPr>
          </a:p>
          <a:p>
            <a:pPr indent="-400050" lvl="0" marL="457200" rtl="0" algn="just">
              <a:lnSpc>
                <a:spcPct val="115000"/>
              </a:lnSpc>
              <a:spcBef>
                <a:spcPts val="1200"/>
              </a:spcBef>
              <a:spcAft>
                <a:spcPts val="0"/>
              </a:spcAft>
              <a:buClr>
                <a:schemeClr val="dk1"/>
              </a:buClr>
              <a:buSzPts val="2700"/>
              <a:buFont typeface="Nunito"/>
              <a:buChar char="-"/>
            </a:pPr>
            <a:r>
              <a:rPr b="1" lang="en" sz="2700">
                <a:solidFill>
                  <a:schemeClr val="dk1"/>
                </a:solidFill>
                <a:latin typeface="Nunito"/>
                <a:ea typeface="Nunito"/>
                <a:cs typeface="Nunito"/>
                <a:sym typeface="Nunito"/>
              </a:rPr>
              <a:t>Applicable to search and rescue, environmental monitoring, and </a:t>
            </a:r>
            <a:r>
              <a:rPr b="1" lang="en" sz="2700">
                <a:solidFill>
                  <a:schemeClr val="dk1"/>
                </a:solidFill>
                <a:latin typeface="Nunito"/>
                <a:ea typeface="Nunito"/>
                <a:cs typeface="Nunito"/>
                <a:sym typeface="Nunito"/>
              </a:rPr>
              <a:t>exploration in unknown environments.</a:t>
            </a:r>
            <a:endParaRPr b="1" sz="2700">
              <a:solidFill>
                <a:schemeClr val="dk1"/>
              </a:solidFill>
              <a:latin typeface="Nunito"/>
              <a:ea typeface="Nunito"/>
              <a:cs typeface="Nunito"/>
              <a:sym typeface="Nunito"/>
            </a:endParaRPr>
          </a:p>
          <a:p>
            <a:pPr indent="-400050" lvl="0" marL="457200" rtl="0" algn="just">
              <a:lnSpc>
                <a:spcPct val="115000"/>
              </a:lnSpc>
              <a:spcBef>
                <a:spcPts val="0"/>
              </a:spcBef>
              <a:spcAft>
                <a:spcPts val="0"/>
              </a:spcAft>
              <a:buClr>
                <a:schemeClr val="dk1"/>
              </a:buClr>
              <a:buSzPts val="2700"/>
              <a:buFont typeface="Nunito"/>
              <a:buChar char="-"/>
            </a:pPr>
            <a:r>
              <a:rPr b="1" lang="en" sz="2700">
                <a:solidFill>
                  <a:schemeClr val="dk1"/>
                </a:solidFill>
                <a:latin typeface="Nunito"/>
                <a:ea typeface="Nunito"/>
                <a:cs typeface="Nunito"/>
                <a:sym typeface="Nunito"/>
              </a:rPr>
              <a:t>Improve path efficiency with more advanced navigation strategies.</a:t>
            </a:r>
            <a:endParaRPr b="1" sz="2700">
              <a:solidFill>
                <a:schemeClr val="dk1"/>
              </a:solidFill>
              <a:latin typeface="Nunito"/>
              <a:ea typeface="Nunito"/>
              <a:cs typeface="Nunito"/>
              <a:sym typeface="Nunito"/>
            </a:endParaRPr>
          </a:p>
          <a:p>
            <a:pPr indent="-400050" lvl="0" marL="457200" rtl="0" algn="just">
              <a:lnSpc>
                <a:spcPct val="115000"/>
              </a:lnSpc>
              <a:spcBef>
                <a:spcPts val="0"/>
              </a:spcBef>
              <a:spcAft>
                <a:spcPts val="0"/>
              </a:spcAft>
              <a:buClr>
                <a:schemeClr val="dk1"/>
              </a:buClr>
              <a:buSzPts val="2700"/>
              <a:buFont typeface="Nunito"/>
              <a:buChar char="-"/>
            </a:pPr>
            <a:r>
              <a:rPr b="1" lang="en" sz="2700">
                <a:solidFill>
                  <a:schemeClr val="dk1"/>
                </a:solidFill>
                <a:latin typeface="Nunito"/>
                <a:ea typeface="Nunito"/>
                <a:cs typeface="Nunito"/>
                <a:sym typeface="Nunito"/>
              </a:rPr>
              <a:t>Add mapping and localization for larger, more complex mazes.</a:t>
            </a:r>
            <a:endParaRPr b="1" sz="2700">
              <a:solidFill>
                <a:schemeClr val="dk1"/>
              </a:solidFill>
              <a:latin typeface="Nunito"/>
              <a:ea typeface="Nunito"/>
              <a:cs typeface="Nunito"/>
              <a:sym typeface="Nunito"/>
            </a:endParaRPr>
          </a:p>
          <a:p>
            <a:pPr indent="-400050" lvl="0" marL="457200" rtl="0" algn="just">
              <a:lnSpc>
                <a:spcPct val="115000"/>
              </a:lnSpc>
              <a:spcBef>
                <a:spcPts val="0"/>
              </a:spcBef>
              <a:spcAft>
                <a:spcPts val="0"/>
              </a:spcAft>
              <a:buClr>
                <a:schemeClr val="dk1"/>
              </a:buClr>
              <a:buSzPts val="2700"/>
              <a:buFont typeface="Nunito"/>
              <a:buChar char="-"/>
            </a:pPr>
            <a:r>
              <a:rPr b="1" lang="en" sz="2700">
                <a:solidFill>
                  <a:schemeClr val="dk1"/>
                </a:solidFill>
                <a:latin typeface="Nunito"/>
                <a:ea typeface="Nunito"/>
                <a:cs typeface="Nunito"/>
                <a:sym typeface="Nunito"/>
              </a:rPr>
              <a:t>Enhance tracking with predictive algorithms for faster targets.</a:t>
            </a:r>
            <a:endParaRPr b="1" sz="2700">
              <a:solidFill>
                <a:schemeClr val="dk1"/>
              </a:solidFill>
              <a:latin typeface="Nunito"/>
              <a:ea typeface="Nunito"/>
              <a:cs typeface="Nunito"/>
              <a:sym typeface="Nunito"/>
            </a:endParaRPr>
          </a:p>
          <a:p>
            <a:pPr indent="-400050" lvl="0" marL="457200" rtl="0" algn="just">
              <a:lnSpc>
                <a:spcPct val="115000"/>
              </a:lnSpc>
              <a:spcBef>
                <a:spcPts val="0"/>
              </a:spcBef>
              <a:spcAft>
                <a:spcPts val="0"/>
              </a:spcAft>
              <a:buClr>
                <a:schemeClr val="dk1"/>
              </a:buClr>
              <a:buSzPts val="2700"/>
              <a:buFont typeface="Nunito"/>
              <a:buChar char="-"/>
            </a:pPr>
            <a:r>
              <a:rPr b="1" lang="en" sz="2700">
                <a:solidFill>
                  <a:schemeClr val="dk1"/>
                </a:solidFill>
                <a:latin typeface="Nunito"/>
                <a:ea typeface="Nunito"/>
                <a:cs typeface="Nunito"/>
                <a:sym typeface="Nunito"/>
              </a:rPr>
              <a:t>Incorporate additional sensors for improved robustness.</a:t>
            </a:r>
            <a:endParaRPr b="1" sz="2700">
              <a:solidFill>
                <a:schemeClr val="dk1"/>
              </a:solidFill>
              <a:latin typeface="Nunito"/>
              <a:ea typeface="Nunito"/>
              <a:cs typeface="Nunito"/>
              <a:sym typeface="Nunito"/>
            </a:endParaRPr>
          </a:p>
        </p:txBody>
      </p:sp>
      <p:sp>
        <p:nvSpPr>
          <p:cNvPr id="92" name="Google Shape;92;p13"/>
          <p:cNvSpPr txBox="1"/>
          <p:nvPr/>
        </p:nvSpPr>
        <p:spPr>
          <a:xfrm>
            <a:off x="22168350" y="3264275"/>
            <a:ext cx="10544700" cy="2167200"/>
          </a:xfrm>
          <a:prstGeom prst="rect">
            <a:avLst/>
          </a:prstGeom>
          <a:noFill/>
          <a:ln>
            <a:noFill/>
          </a:ln>
        </p:spPr>
        <p:txBody>
          <a:bodyPr anchorCtr="0" anchor="t" bIns="91425" lIns="91425" spcFirstLastPara="1" rIns="91425" wrap="square" tIns="91425">
            <a:spAutoFit/>
          </a:bodyPr>
          <a:lstStyle/>
          <a:p>
            <a:pPr indent="-374650" lvl="0" marL="457200" rtl="0" algn="just">
              <a:lnSpc>
                <a:spcPct val="115000"/>
              </a:lnSpc>
              <a:spcBef>
                <a:spcPts val="120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HSV tracking detected the fish target with a 91% average tracking rate.</a:t>
            </a:r>
            <a:endParaRPr b="1" sz="2300">
              <a:solidFill>
                <a:schemeClr val="dk1"/>
              </a:solidFill>
              <a:latin typeface="Nunito"/>
              <a:ea typeface="Nunito"/>
              <a:cs typeface="Nunito"/>
              <a:sym typeface="Nunito"/>
            </a:endParaRPr>
          </a:p>
          <a:p>
            <a:pPr indent="-374650" lvl="0" marL="457200" rtl="0" algn="just">
              <a:lnSpc>
                <a:spcPct val="115000"/>
              </a:lnSpc>
              <a:spcBef>
                <a:spcPts val="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The system responded to sensor input in real time, allowing the robot to correct its path.</a:t>
            </a:r>
            <a:endParaRPr b="1" sz="2300">
              <a:solidFill>
                <a:schemeClr val="dk1"/>
              </a:solidFill>
              <a:latin typeface="Nunito"/>
              <a:ea typeface="Nunito"/>
              <a:cs typeface="Nunito"/>
              <a:sym typeface="Nunito"/>
            </a:endParaRPr>
          </a:p>
          <a:p>
            <a:pPr indent="-374650" lvl="0" marL="457200" rtl="0" algn="just">
              <a:lnSpc>
                <a:spcPct val="115000"/>
              </a:lnSpc>
              <a:spcBef>
                <a:spcPts val="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Fish training trials showed that repeated food-based conditioning increased the fish’s movement toward the target area over time.</a:t>
            </a:r>
            <a:endParaRPr b="1" sz="2300">
              <a:solidFill>
                <a:schemeClr val="dk1"/>
              </a:solidFill>
              <a:latin typeface="Nunito"/>
              <a:ea typeface="Nunito"/>
              <a:cs typeface="Nunito"/>
              <a:sym typeface="Nunito"/>
            </a:endParaRPr>
          </a:p>
        </p:txBody>
      </p:sp>
      <p:sp>
        <p:nvSpPr>
          <p:cNvPr id="93" name="Google Shape;93;p13"/>
          <p:cNvSpPr txBox="1"/>
          <p:nvPr/>
        </p:nvSpPr>
        <p:spPr>
          <a:xfrm>
            <a:off x="46500" y="0"/>
            <a:ext cx="2802300" cy="2256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2350">
                <a:solidFill>
                  <a:schemeClr val="dk1"/>
                </a:solidFill>
                <a:latin typeface="Nunito"/>
                <a:ea typeface="Nunito"/>
                <a:cs typeface="Nunito"/>
                <a:sym typeface="Nunito"/>
              </a:rPr>
              <a:t>Navya Arora</a:t>
            </a:r>
            <a:endParaRPr b="1" sz="2350">
              <a:solidFill>
                <a:schemeClr val="dk1"/>
              </a:solidFill>
              <a:latin typeface="Nunito"/>
              <a:ea typeface="Nunito"/>
              <a:cs typeface="Nunito"/>
              <a:sym typeface="Nunito"/>
            </a:endParaRPr>
          </a:p>
          <a:p>
            <a:pPr indent="0" lvl="0" marL="0" rtl="0" algn="just">
              <a:lnSpc>
                <a:spcPct val="115000"/>
              </a:lnSpc>
              <a:spcBef>
                <a:spcPts val="1200"/>
              </a:spcBef>
              <a:spcAft>
                <a:spcPts val="0"/>
              </a:spcAft>
              <a:buNone/>
            </a:pPr>
            <a:r>
              <a:rPr b="1" lang="en" sz="2350">
                <a:solidFill>
                  <a:schemeClr val="dk1"/>
                </a:solidFill>
                <a:latin typeface="Nunito"/>
                <a:ea typeface="Nunito"/>
                <a:cs typeface="Nunito"/>
                <a:sym typeface="Nunito"/>
              </a:rPr>
              <a:t>Esha Madamalla</a:t>
            </a:r>
            <a:endParaRPr b="1" sz="2350">
              <a:solidFill>
                <a:schemeClr val="dk1"/>
              </a:solidFill>
              <a:latin typeface="Nunito"/>
              <a:ea typeface="Nunito"/>
              <a:cs typeface="Nunito"/>
              <a:sym typeface="Nunito"/>
            </a:endParaRPr>
          </a:p>
          <a:p>
            <a:pPr indent="0" lvl="0" marL="0" rtl="0" algn="just">
              <a:lnSpc>
                <a:spcPct val="115000"/>
              </a:lnSpc>
              <a:spcBef>
                <a:spcPts val="1200"/>
              </a:spcBef>
              <a:spcAft>
                <a:spcPts val="0"/>
              </a:spcAft>
              <a:buNone/>
            </a:pPr>
            <a:r>
              <a:rPr b="1" lang="en" sz="2350">
                <a:solidFill>
                  <a:schemeClr val="dk1"/>
                </a:solidFill>
                <a:latin typeface="Nunito"/>
                <a:ea typeface="Nunito"/>
                <a:cs typeface="Nunito"/>
                <a:sym typeface="Nunito"/>
              </a:rPr>
              <a:t>Madison Carney</a:t>
            </a:r>
            <a:endParaRPr b="1" sz="2350">
              <a:solidFill>
                <a:schemeClr val="dk1"/>
              </a:solidFill>
              <a:latin typeface="Nunito"/>
              <a:ea typeface="Nunito"/>
              <a:cs typeface="Nunito"/>
              <a:sym typeface="Nunito"/>
            </a:endParaRPr>
          </a:p>
          <a:p>
            <a:pPr indent="0" lvl="0" marL="0" rtl="0" algn="just">
              <a:lnSpc>
                <a:spcPct val="115000"/>
              </a:lnSpc>
              <a:spcBef>
                <a:spcPts val="1200"/>
              </a:spcBef>
              <a:spcAft>
                <a:spcPts val="1200"/>
              </a:spcAft>
              <a:buNone/>
            </a:pPr>
            <a:r>
              <a:rPr b="1" lang="en" sz="2350">
                <a:solidFill>
                  <a:schemeClr val="dk1"/>
                </a:solidFill>
                <a:latin typeface="Nunito"/>
                <a:ea typeface="Nunito"/>
                <a:cs typeface="Nunito"/>
                <a:sym typeface="Nunito"/>
              </a:rPr>
              <a:t>Alexis Phan</a:t>
            </a:r>
            <a:endParaRPr b="1" sz="2350">
              <a:solidFill>
                <a:schemeClr val="dk1"/>
              </a:solidFill>
              <a:latin typeface="Nunito"/>
              <a:ea typeface="Nunito"/>
              <a:cs typeface="Nunito"/>
              <a:sym typeface="Nunito"/>
            </a:endParaRPr>
          </a:p>
        </p:txBody>
      </p:sp>
      <p:cxnSp>
        <p:nvCxnSpPr>
          <p:cNvPr id="94" name="Google Shape;94;p13"/>
          <p:cNvCxnSpPr/>
          <p:nvPr/>
        </p:nvCxnSpPr>
        <p:spPr>
          <a:xfrm>
            <a:off x="11239400" y="3264275"/>
            <a:ext cx="0" cy="2449200"/>
          </a:xfrm>
          <a:prstGeom prst="straightConnector1">
            <a:avLst/>
          </a:prstGeom>
          <a:noFill/>
          <a:ln cap="flat" cmpd="sng" w="19050">
            <a:solidFill>
              <a:schemeClr val="dk2"/>
            </a:solidFill>
            <a:prstDash val="solid"/>
            <a:round/>
            <a:headEnd len="med" w="med" type="none"/>
            <a:tailEnd len="med" w="med" type="none"/>
          </a:ln>
        </p:spPr>
      </p:cxnSp>
      <p:cxnSp>
        <p:nvCxnSpPr>
          <p:cNvPr id="95" name="Google Shape;95;p13"/>
          <p:cNvCxnSpPr/>
          <p:nvPr/>
        </p:nvCxnSpPr>
        <p:spPr>
          <a:xfrm>
            <a:off x="15179900" y="3264275"/>
            <a:ext cx="0" cy="2449200"/>
          </a:xfrm>
          <a:prstGeom prst="straightConnector1">
            <a:avLst/>
          </a:prstGeom>
          <a:noFill/>
          <a:ln cap="flat" cmpd="sng" w="19050">
            <a:solidFill>
              <a:schemeClr val="dk2"/>
            </a:solidFill>
            <a:prstDash val="solid"/>
            <a:round/>
            <a:headEnd len="med" w="med" type="none"/>
            <a:tailEnd len="med" w="med" type="none"/>
          </a:ln>
        </p:spPr>
      </p:cxnSp>
      <p:cxnSp>
        <p:nvCxnSpPr>
          <p:cNvPr id="96" name="Google Shape;96;p13"/>
          <p:cNvCxnSpPr/>
          <p:nvPr/>
        </p:nvCxnSpPr>
        <p:spPr>
          <a:xfrm>
            <a:off x="18715800" y="3349275"/>
            <a:ext cx="0" cy="2449200"/>
          </a:xfrm>
          <a:prstGeom prst="straightConnector1">
            <a:avLst/>
          </a:prstGeom>
          <a:noFill/>
          <a:ln cap="flat" cmpd="sng" w="19050">
            <a:solidFill>
              <a:schemeClr val="dk2"/>
            </a:solidFill>
            <a:prstDash val="solid"/>
            <a:round/>
            <a:headEnd len="med" w="med" type="none"/>
            <a:tailEnd len="med" w="med" type="none"/>
          </a:ln>
        </p:spPr>
      </p:cxnSp>
      <p:cxnSp>
        <p:nvCxnSpPr>
          <p:cNvPr id="97" name="Google Shape;97;p13"/>
          <p:cNvCxnSpPr/>
          <p:nvPr/>
        </p:nvCxnSpPr>
        <p:spPr>
          <a:xfrm>
            <a:off x="11239400" y="6217113"/>
            <a:ext cx="0" cy="2300100"/>
          </a:xfrm>
          <a:prstGeom prst="straightConnector1">
            <a:avLst/>
          </a:prstGeom>
          <a:noFill/>
          <a:ln cap="flat" cmpd="sng" w="19050">
            <a:solidFill>
              <a:schemeClr val="dk2"/>
            </a:solidFill>
            <a:prstDash val="solid"/>
            <a:round/>
            <a:headEnd len="med" w="med" type="none"/>
            <a:tailEnd len="med" w="med" type="none"/>
          </a:ln>
        </p:spPr>
      </p:cxnSp>
      <p:cxnSp>
        <p:nvCxnSpPr>
          <p:cNvPr id="98" name="Google Shape;98;p13"/>
          <p:cNvCxnSpPr/>
          <p:nvPr/>
        </p:nvCxnSpPr>
        <p:spPr>
          <a:xfrm>
            <a:off x="15168275" y="6230925"/>
            <a:ext cx="0" cy="2300100"/>
          </a:xfrm>
          <a:prstGeom prst="straightConnector1">
            <a:avLst/>
          </a:prstGeom>
          <a:noFill/>
          <a:ln cap="flat" cmpd="sng" w="19050">
            <a:solidFill>
              <a:schemeClr val="dk2"/>
            </a:solidFill>
            <a:prstDash val="solid"/>
            <a:round/>
            <a:headEnd len="med" w="med" type="none"/>
            <a:tailEnd len="med" w="med" type="none"/>
          </a:ln>
        </p:spPr>
      </p:cxnSp>
      <p:cxnSp>
        <p:nvCxnSpPr>
          <p:cNvPr id="99" name="Google Shape;99;p13"/>
          <p:cNvCxnSpPr/>
          <p:nvPr/>
        </p:nvCxnSpPr>
        <p:spPr>
          <a:xfrm>
            <a:off x="18715800" y="6290400"/>
            <a:ext cx="0" cy="2300100"/>
          </a:xfrm>
          <a:prstGeom prst="straightConnector1">
            <a:avLst/>
          </a:prstGeom>
          <a:noFill/>
          <a:ln cap="flat" cmpd="sng" w="19050">
            <a:solidFill>
              <a:schemeClr val="dk2"/>
            </a:solidFill>
            <a:prstDash val="solid"/>
            <a:round/>
            <a:headEnd len="med" w="med" type="none"/>
            <a:tailEnd len="med" w="med" type="none"/>
          </a:ln>
        </p:spPr>
      </p:cxnSp>
      <p:sp>
        <p:nvSpPr>
          <p:cNvPr id="100" name="Google Shape;100;p13"/>
          <p:cNvSpPr txBox="1"/>
          <p:nvPr/>
        </p:nvSpPr>
        <p:spPr>
          <a:xfrm>
            <a:off x="14078000" y="13641675"/>
            <a:ext cx="6657900" cy="615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800">
                <a:solidFill>
                  <a:srgbClr val="FF1480"/>
                </a:solidFill>
                <a:latin typeface="Nunito"/>
                <a:ea typeface="Nunito"/>
                <a:cs typeface="Nunito"/>
                <a:sym typeface="Nunito"/>
              </a:rPr>
              <a:t>Fish Behavior and Training Response</a:t>
            </a:r>
            <a:endParaRPr sz="2800">
              <a:solidFill>
                <a:srgbClr val="FF1480"/>
              </a:solidFill>
            </a:endParaRPr>
          </a:p>
        </p:txBody>
      </p:sp>
      <p:sp>
        <p:nvSpPr>
          <p:cNvPr id="101" name="Google Shape;101;p13"/>
          <p:cNvSpPr txBox="1"/>
          <p:nvPr/>
        </p:nvSpPr>
        <p:spPr>
          <a:xfrm>
            <a:off x="12666475" y="14400200"/>
            <a:ext cx="9168000" cy="1760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2300">
                <a:solidFill>
                  <a:schemeClr val="dk1"/>
                </a:solidFill>
                <a:latin typeface="Nunito"/>
                <a:ea typeface="Nunito"/>
                <a:cs typeface="Nunito"/>
                <a:sym typeface="Nunito"/>
              </a:rPr>
              <a:t>The robot is used as a training mechanism to test how fish respond to repeated food-based conditioning. Fish were trained to move toward food, and their movement patterns were observed as part of the oceanography component.</a:t>
            </a:r>
            <a:endParaRPr b="1" sz="2300">
              <a:solidFill>
                <a:schemeClr val="dk1"/>
              </a:solidFill>
              <a:latin typeface="Nunito"/>
              <a:ea typeface="Nunito"/>
              <a:cs typeface="Nunito"/>
              <a:sym typeface="Nunito"/>
            </a:endParaRPr>
          </a:p>
        </p:txBody>
      </p:sp>
      <p:sp>
        <p:nvSpPr>
          <p:cNvPr id="102" name="Google Shape;102;p13"/>
          <p:cNvSpPr txBox="1"/>
          <p:nvPr/>
        </p:nvSpPr>
        <p:spPr>
          <a:xfrm>
            <a:off x="12666475" y="20963825"/>
            <a:ext cx="9168000" cy="945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2300">
                <a:solidFill>
                  <a:schemeClr val="dk1"/>
                </a:solidFill>
                <a:latin typeface="Nunito"/>
                <a:ea typeface="Nunito"/>
                <a:cs typeface="Nunito"/>
                <a:sym typeface="Nunito"/>
              </a:rPr>
              <a:t>These results help compare how different training schedules affect fish behavior and follow accuracy.</a:t>
            </a:r>
            <a:endParaRPr b="1" sz="2300">
              <a:solidFill>
                <a:schemeClr val="dk1"/>
              </a:solidFill>
              <a:latin typeface="Nunito"/>
              <a:ea typeface="Nunito"/>
              <a:cs typeface="Nunito"/>
              <a:sym typeface="Nunito"/>
            </a:endParaRPr>
          </a:p>
        </p:txBody>
      </p:sp>
      <p:sp>
        <p:nvSpPr>
          <p:cNvPr id="103" name="Google Shape;103;p13"/>
          <p:cNvSpPr txBox="1"/>
          <p:nvPr/>
        </p:nvSpPr>
        <p:spPr>
          <a:xfrm>
            <a:off x="14657325" y="18660875"/>
            <a:ext cx="2244600" cy="222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2300">
                <a:solidFill>
                  <a:schemeClr val="dk1"/>
                </a:solidFill>
                <a:latin typeface="Nunito"/>
                <a:ea typeface="Nunito"/>
                <a:cs typeface="Nunito"/>
                <a:sym typeface="Nunito"/>
              </a:rPr>
              <a:t>Group 1</a:t>
            </a:r>
            <a:endParaRPr b="1" sz="23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2300">
                <a:solidFill>
                  <a:schemeClr val="dk1"/>
                </a:solidFill>
                <a:latin typeface="Nunito"/>
                <a:ea typeface="Nunito"/>
                <a:cs typeface="Nunito"/>
                <a:sym typeface="Nunito"/>
              </a:rPr>
              <a:t>Once weekly</a:t>
            </a:r>
            <a:endParaRPr b="1" sz="23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2300">
                <a:solidFill>
                  <a:schemeClr val="dk1"/>
                </a:solidFill>
                <a:latin typeface="Nunito"/>
                <a:ea typeface="Nunito"/>
                <a:cs typeface="Nunito"/>
                <a:sym typeface="Nunito"/>
              </a:rPr>
              <a:t>10 min</a:t>
            </a:r>
            <a:endParaRPr b="1" sz="2300">
              <a:solidFill>
                <a:schemeClr val="dk1"/>
              </a:solidFill>
              <a:latin typeface="Nunito"/>
              <a:ea typeface="Nunito"/>
              <a:cs typeface="Nunito"/>
              <a:sym typeface="Nunito"/>
            </a:endParaRPr>
          </a:p>
          <a:p>
            <a:pPr indent="0" lvl="0" marL="0" rtl="0" algn="l">
              <a:lnSpc>
                <a:spcPct val="115000"/>
              </a:lnSpc>
              <a:spcBef>
                <a:spcPts val="1200"/>
              </a:spcBef>
              <a:spcAft>
                <a:spcPts val="1200"/>
              </a:spcAft>
              <a:buNone/>
            </a:pPr>
            <a:r>
              <a:rPr b="1" lang="en" sz="2300">
                <a:solidFill>
                  <a:schemeClr val="dk1"/>
                </a:solidFill>
                <a:latin typeface="Nunito"/>
                <a:ea typeface="Nunito"/>
                <a:cs typeface="Nunito"/>
                <a:sym typeface="Nunito"/>
              </a:rPr>
              <a:t>with breaks</a:t>
            </a:r>
            <a:endParaRPr b="1" sz="2300">
              <a:solidFill>
                <a:schemeClr val="dk1"/>
              </a:solidFill>
              <a:latin typeface="Nunito"/>
              <a:ea typeface="Nunito"/>
              <a:cs typeface="Nunito"/>
              <a:sym typeface="Nunito"/>
            </a:endParaRPr>
          </a:p>
        </p:txBody>
      </p:sp>
      <p:sp>
        <p:nvSpPr>
          <p:cNvPr id="104" name="Google Shape;104;p13"/>
          <p:cNvSpPr txBox="1"/>
          <p:nvPr/>
        </p:nvSpPr>
        <p:spPr>
          <a:xfrm>
            <a:off x="19472600" y="18660875"/>
            <a:ext cx="2244600" cy="222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2300">
                <a:solidFill>
                  <a:schemeClr val="dk1"/>
                </a:solidFill>
                <a:latin typeface="Nunito"/>
                <a:ea typeface="Nunito"/>
                <a:cs typeface="Nunito"/>
                <a:sym typeface="Nunito"/>
              </a:rPr>
              <a:t>Group 2</a:t>
            </a:r>
            <a:endParaRPr b="1" sz="23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2300">
                <a:solidFill>
                  <a:schemeClr val="dk1"/>
                </a:solidFill>
                <a:latin typeface="Nunito"/>
                <a:ea typeface="Nunito"/>
                <a:cs typeface="Nunito"/>
                <a:sym typeface="Nunito"/>
              </a:rPr>
              <a:t>Twice weekly</a:t>
            </a:r>
            <a:endParaRPr b="1" sz="23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2300">
                <a:solidFill>
                  <a:schemeClr val="dk1"/>
                </a:solidFill>
                <a:latin typeface="Nunito"/>
                <a:ea typeface="Nunito"/>
                <a:cs typeface="Nunito"/>
                <a:sym typeface="Nunito"/>
              </a:rPr>
              <a:t>5 min</a:t>
            </a:r>
            <a:endParaRPr b="1" sz="2300">
              <a:solidFill>
                <a:schemeClr val="dk1"/>
              </a:solidFill>
              <a:latin typeface="Nunito"/>
              <a:ea typeface="Nunito"/>
              <a:cs typeface="Nunito"/>
              <a:sym typeface="Nunito"/>
            </a:endParaRPr>
          </a:p>
          <a:p>
            <a:pPr indent="0" lvl="0" marL="0" rtl="0" algn="l">
              <a:lnSpc>
                <a:spcPct val="115000"/>
              </a:lnSpc>
              <a:spcBef>
                <a:spcPts val="1200"/>
              </a:spcBef>
              <a:spcAft>
                <a:spcPts val="1200"/>
              </a:spcAft>
              <a:buNone/>
            </a:pPr>
            <a:r>
              <a:rPr b="1" lang="en" sz="2300">
                <a:solidFill>
                  <a:schemeClr val="dk1"/>
                </a:solidFill>
                <a:latin typeface="Nunito"/>
                <a:ea typeface="Nunito"/>
                <a:cs typeface="Nunito"/>
                <a:sym typeface="Nunito"/>
              </a:rPr>
              <a:t>no breaks</a:t>
            </a:r>
            <a:endParaRPr b="1" sz="2300">
              <a:solidFill>
                <a:schemeClr val="dk1"/>
              </a:solidFill>
              <a:latin typeface="Nunito"/>
              <a:ea typeface="Nunito"/>
              <a:cs typeface="Nunito"/>
              <a:sym typeface="Nunito"/>
            </a:endParaRPr>
          </a:p>
        </p:txBody>
      </p:sp>
      <p:sp>
        <p:nvSpPr>
          <p:cNvPr id="105" name="Google Shape;105;p13"/>
          <p:cNvSpPr txBox="1"/>
          <p:nvPr/>
        </p:nvSpPr>
        <p:spPr>
          <a:xfrm>
            <a:off x="12627388" y="16399125"/>
            <a:ext cx="9168000" cy="1760100"/>
          </a:xfrm>
          <a:prstGeom prst="rect">
            <a:avLst/>
          </a:prstGeom>
          <a:noFill/>
          <a:ln>
            <a:noFill/>
          </a:ln>
        </p:spPr>
        <p:txBody>
          <a:bodyPr anchorCtr="0" anchor="t" bIns="91425" lIns="91425" spcFirstLastPara="1" rIns="91425" wrap="square" tIns="91425">
            <a:spAutoFit/>
          </a:bodyPr>
          <a:lstStyle/>
          <a:p>
            <a:pPr indent="-374650" lvl="0" marL="457200" rtl="0" algn="just">
              <a:lnSpc>
                <a:spcPct val="115000"/>
              </a:lnSpc>
              <a:spcBef>
                <a:spcPts val="120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Fish showed stronger movement toward the food zone after repeated conditioning, suggesting early associative learning.</a:t>
            </a:r>
            <a:endParaRPr b="1" sz="2300">
              <a:solidFill>
                <a:schemeClr val="dk1"/>
              </a:solidFill>
              <a:latin typeface="Nunito"/>
              <a:ea typeface="Nunito"/>
              <a:cs typeface="Nunito"/>
              <a:sym typeface="Nunito"/>
            </a:endParaRPr>
          </a:p>
          <a:p>
            <a:pPr indent="-374650" lvl="0" marL="457200" rtl="0" algn="just">
              <a:lnSpc>
                <a:spcPct val="115000"/>
              </a:lnSpc>
              <a:spcBef>
                <a:spcPts val="0"/>
              </a:spcBef>
              <a:spcAft>
                <a:spcPts val="0"/>
              </a:spcAft>
              <a:buClr>
                <a:schemeClr val="dk1"/>
              </a:buClr>
              <a:buSzPts val="2300"/>
              <a:buFont typeface="Nunito"/>
              <a:buChar char="-"/>
            </a:pPr>
            <a:r>
              <a:rPr b="1" lang="en" sz="2300">
                <a:solidFill>
                  <a:schemeClr val="dk1"/>
                </a:solidFill>
                <a:latin typeface="Nunito"/>
                <a:ea typeface="Nunito"/>
                <a:cs typeface="Nunito"/>
                <a:sym typeface="Nunito"/>
              </a:rPr>
              <a:t>Shorter, more frequent sessions appeared to keep fish more responsive than longer sessions with breaks.</a:t>
            </a:r>
            <a:endParaRPr b="1" sz="2300">
              <a:solidFill>
                <a:schemeClr val="dk1"/>
              </a:solidFill>
              <a:latin typeface="Nunito"/>
              <a:ea typeface="Nunito"/>
              <a:cs typeface="Nunito"/>
              <a:sym typeface="Nunito"/>
            </a:endParaRPr>
          </a:p>
        </p:txBody>
      </p:sp>
      <p:sp>
        <p:nvSpPr>
          <p:cNvPr id="106" name="Google Shape;106;p13"/>
          <p:cNvSpPr/>
          <p:nvPr/>
        </p:nvSpPr>
        <p:spPr>
          <a:xfrm>
            <a:off x="29559250" y="285750"/>
            <a:ext cx="2476500" cy="1970100"/>
          </a:xfrm>
          <a:prstGeom prst="rect">
            <a:avLst/>
          </a:prstGeom>
          <a:solidFill>
            <a:srgbClr val="EEF4FE"/>
          </a:solidFill>
          <a:ln cap="flat" cmpd="sng" w="9525">
            <a:solidFill>
              <a:srgbClr val="EEF4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3"/>
          <p:cNvSpPr txBox="1"/>
          <p:nvPr/>
        </p:nvSpPr>
        <p:spPr>
          <a:xfrm>
            <a:off x="29059375" y="70300"/>
            <a:ext cx="3839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100">
                <a:solidFill>
                  <a:schemeClr val="dk1"/>
                </a:solidFill>
                <a:latin typeface="Nunito"/>
                <a:ea typeface="Nunito"/>
                <a:cs typeface="Nunito"/>
                <a:sym typeface="Nunito"/>
              </a:rPr>
              <a:t>Systems &amp; Ocean Lab - 2026</a:t>
            </a:r>
            <a:endParaRPr b="1" sz="2100">
              <a:solidFill>
                <a:schemeClr val="dk1"/>
              </a:solidFill>
              <a:latin typeface="Nunito"/>
              <a:ea typeface="Nunito"/>
              <a:cs typeface="Nunito"/>
              <a:sym typeface="Nunito"/>
            </a:endParaRPr>
          </a:p>
        </p:txBody>
      </p:sp>
      <p:pic>
        <p:nvPicPr>
          <p:cNvPr id="108" name="Google Shape;108;p13" title="Screenshot 2026-05-15 at 1.26.17 PM.png"/>
          <p:cNvPicPr preferRelativeResize="0"/>
          <p:nvPr/>
        </p:nvPicPr>
        <p:blipFill rotWithShape="1">
          <a:blip r:embed="rId5">
            <a:alphaModFix/>
          </a:blip>
          <a:srcRect b="4363" l="750" r="504" t="3784"/>
          <a:stretch/>
        </p:blipFill>
        <p:spPr>
          <a:xfrm>
            <a:off x="22299350" y="14763750"/>
            <a:ext cx="10466524" cy="3299125"/>
          </a:xfrm>
          <a:prstGeom prst="rect">
            <a:avLst/>
          </a:prstGeom>
          <a:noFill/>
          <a:ln>
            <a:noFill/>
          </a:ln>
        </p:spPr>
      </p:pic>
      <p:sp>
        <p:nvSpPr>
          <p:cNvPr id="109" name="Google Shape;109;p13"/>
          <p:cNvSpPr txBox="1"/>
          <p:nvPr/>
        </p:nvSpPr>
        <p:spPr>
          <a:xfrm>
            <a:off x="30549575" y="431800"/>
            <a:ext cx="3839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100">
                <a:solidFill>
                  <a:schemeClr val="dk1"/>
                </a:solidFill>
                <a:latin typeface="Nunito"/>
                <a:ea typeface="Nunito"/>
                <a:cs typeface="Nunito"/>
                <a:sym typeface="Nunito"/>
              </a:rPr>
              <a:t>Yilmaz &amp; Stickler</a:t>
            </a:r>
            <a:endParaRPr b="1" sz="2100">
              <a:solidFill>
                <a:schemeClr val="dk1"/>
              </a:solidFill>
              <a:latin typeface="Nunito"/>
              <a:ea typeface="Nunito"/>
              <a:cs typeface="Nunito"/>
              <a:sym typeface="Nunito"/>
            </a:endParaRPr>
          </a:p>
        </p:txBody>
      </p:sp>
      <p:pic>
        <p:nvPicPr>
          <p:cNvPr id="110" name="Google Shape;110;p13" title="Screenshot 2026-05-29 at 1.21.44 PM.png"/>
          <p:cNvPicPr preferRelativeResize="0"/>
          <p:nvPr/>
        </p:nvPicPr>
        <p:blipFill>
          <a:blip r:embed="rId6">
            <a:alphaModFix/>
          </a:blip>
          <a:stretch>
            <a:fillRect/>
          </a:stretch>
        </p:blipFill>
        <p:spPr>
          <a:xfrm>
            <a:off x="31504070" y="990602"/>
            <a:ext cx="1208980" cy="1243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